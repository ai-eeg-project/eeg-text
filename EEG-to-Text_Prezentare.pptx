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1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13283D"/>
                </a:solidFill>
                <a:latin typeface="Arial"/>
              </a:defRPr>
            </a:pPr>
            <a:r>
              <a:rPr sz="1200" b="0" i="0" u="none" strike="noStrike">
                <a:solidFill>
                  <a:srgbClr val="13283D"/>
                </a:solidFill>
                <a:latin typeface="Arial"/>
              </a:rPr>
              <a:t>Acuratete pe split example (200 cuvinte, SR+NR)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Top-1 (%)</c:v>
                </c:pt>
              </c:strCache>
            </c:strRef>
          </c:tx>
          <c:spPr>
            <a:solidFill>
              <a:srgbClr val="028090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3283D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Laslo</c:v>
                  </c:pt>
                  <c:pt idx="1">
                    <c:v>Magdas</c:v>
                  </c:pt>
                  <c:pt idx="2">
                    <c:v>Lupse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5.1</c:v>
                </c:pt>
                <c:pt idx="1">
                  <c:v>3.8</c:v>
                </c:pt>
                <c:pt idx="2">
                  <c:v>4.2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Top-5 (%)</c:v>
                </c:pt>
              </c:strCache>
            </c:strRef>
          </c:tx>
          <c:spPr>
            <a:solidFill>
              <a:srgbClr val="02C39A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3283D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Laslo</c:v>
                  </c:pt>
                  <c:pt idx="1">
                    <c:v>Magdas</c:v>
                  </c:pt>
                  <c:pt idx="2">
                    <c:v>Lupse</c:v>
                  </c:pt>
                </c:lvl>
              </c:multiLvlStrCache>
            </c:multiLvl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7.6</c:v>
                </c:pt>
                <c:pt idx="1">
                  <c:v>10.7</c:v>
                </c:pt>
                <c:pt idx="2">
                  <c:v>10.9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000" u="none">
                  <a:solidFill>
                    <a:srgbClr val="13283D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B708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4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B708A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1100">
              <a:solidFill>
                <a:srgbClr val="13283D"/>
              </a:solidFill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E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2788920"/>
            <a:ext cx="202692" cy="105851"/>
          </a:xfrm>
          <a:prstGeom prst="line">
            <a:avLst/>
          </a:prstGeom>
          <a:noFill/>
          <a:ln w="19050">
            <a:solidFill>
              <a:srgbClr val="1CC8D8">
                <a:alpha val="65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02692" y="2894771"/>
            <a:ext cx="202692" cy="89257"/>
          </a:xfrm>
          <a:prstGeom prst="line">
            <a:avLst/>
          </a:prstGeom>
          <a:noFill/>
          <a:ln w="19050">
            <a:solidFill>
              <a:srgbClr val="028090">
                <a:alpha val="6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05384" y="2984028"/>
            <a:ext cx="202692" cy="28134"/>
          </a:xfrm>
          <a:prstGeom prst="line">
            <a:avLst/>
          </a:prstGeom>
          <a:noFill/>
          <a:ln w="19050">
            <a:solidFill>
              <a:srgbClr val="028090">
                <a:alpha val="65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08076" y="3012163"/>
            <a:ext cx="202692" cy="-56876"/>
          </a:xfrm>
          <a:prstGeom prst="line">
            <a:avLst/>
          </a:prstGeom>
          <a:noFill/>
          <a:ln w="19050">
            <a:solidFill>
              <a:srgbClr val="1CC8D8">
                <a:alpha val="65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10768" y="2955287"/>
            <a:ext cx="202692" cy="-129708"/>
          </a:xfrm>
          <a:prstGeom prst="line">
            <a:avLst/>
          </a:prstGeom>
          <a:noFill/>
          <a:ln w="19050">
            <a:solidFill>
              <a:srgbClr val="028090">
                <a:alpha val="65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13460" y="2825579"/>
            <a:ext cx="202692" cy="-155725"/>
          </a:xfrm>
          <a:prstGeom prst="line">
            <a:avLst/>
          </a:prstGeom>
          <a:noFill/>
          <a:ln w="19050">
            <a:solidFill>
              <a:srgbClr val="028090">
                <a:alpha val="65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216152" y="2669854"/>
            <a:ext cx="202692" cy="-119539"/>
          </a:xfrm>
          <a:prstGeom prst="line">
            <a:avLst/>
          </a:prstGeom>
          <a:noFill/>
          <a:ln w="19050">
            <a:solidFill>
              <a:srgbClr val="1CC8D8">
                <a:alpha val="65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418844" y="2550315"/>
            <a:ext cx="202692" cy="-34012"/>
          </a:xfrm>
          <a:prstGeom prst="line">
            <a:avLst/>
          </a:prstGeom>
          <a:noFill/>
          <a:ln w="19050">
            <a:solidFill>
              <a:srgbClr val="028090">
                <a:alpha val="65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621536" y="2516303"/>
            <a:ext cx="202692" cy="64915"/>
          </a:xfrm>
          <a:prstGeom prst="line">
            <a:avLst/>
          </a:prstGeom>
          <a:noFill/>
          <a:ln w="19050">
            <a:solidFill>
              <a:srgbClr val="028090">
                <a:alpha val="65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824228" y="2581219"/>
            <a:ext cx="202692" cy="135246"/>
          </a:xfrm>
          <a:prstGeom prst="line">
            <a:avLst/>
          </a:prstGeom>
          <a:noFill/>
          <a:ln w="19050">
            <a:solidFill>
              <a:srgbClr val="1CC8D8">
                <a:alpha val="65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026920" y="2716465"/>
            <a:ext cx="202692" cy="148995"/>
          </a:xfrm>
          <a:prstGeom prst="line">
            <a:avLst/>
          </a:prstGeom>
          <a:noFill/>
          <a:ln w="19050">
            <a:solidFill>
              <a:srgbClr val="028090">
                <a:alpha val="65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229612" y="2865460"/>
            <a:ext cx="202692" cy="104805"/>
          </a:xfrm>
          <a:prstGeom prst="line">
            <a:avLst/>
          </a:prstGeom>
          <a:noFill/>
          <a:ln w="19050">
            <a:solidFill>
              <a:srgbClr val="028090">
                <a:alpha val="65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432304" y="2970265"/>
            <a:ext cx="202692" cy="26842"/>
          </a:xfrm>
          <a:prstGeom prst="line">
            <a:avLst/>
          </a:prstGeom>
          <a:noFill/>
          <a:ln w="19050">
            <a:solidFill>
              <a:srgbClr val="1CC8D8">
                <a:alpha val="65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634996" y="2997107"/>
            <a:ext cx="202692" cy="-48751"/>
          </a:xfrm>
          <a:prstGeom prst="line">
            <a:avLst/>
          </a:prstGeom>
          <a:noFill/>
          <a:ln w="19050">
            <a:solidFill>
              <a:srgbClr val="028090">
                <a:alpha val="65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837688" y="2948356"/>
            <a:ext cx="202692" cy="-91985"/>
          </a:xfrm>
          <a:prstGeom prst="line">
            <a:avLst/>
          </a:prstGeom>
          <a:noFill/>
          <a:ln w="19050">
            <a:solidFill>
              <a:srgbClr val="028090">
                <a:alpha val="65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040380" y="2856371"/>
            <a:ext cx="202692" cy="-91999"/>
          </a:xfrm>
          <a:prstGeom prst="line">
            <a:avLst/>
          </a:prstGeom>
          <a:noFill/>
          <a:ln w="19050">
            <a:solidFill>
              <a:srgbClr val="1CC8D8">
                <a:alpha val="65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243072" y="2764372"/>
            <a:ext cx="202692" cy="-58743"/>
          </a:xfrm>
          <a:prstGeom prst="line">
            <a:avLst/>
          </a:prstGeom>
          <a:noFill/>
          <a:ln w="19050">
            <a:solidFill>
              <a:srgbClr val="028090">
                <a:alpha val="65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445764" y="2705629"/>
            <a:ext cx="202692" cy="-14021"/>
          </a:xfrm>
          <a:prstGeom prst="line">
            <a:avLst/>
          </a:prstGeom>
          <a:noFill/>
          <a:ln w="19050">
            <a:solidFill>
              <a:srgbClr val="028090">
                <a:alpha val="65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648456" y="2691608"/>
            <a:ext cx="202692" cy="21678"/>
          </a:xfrm>
          <a:prstGeom prst="line">
            <a:avLst/>
          </a:prstGeom>
          <a:noFill/>
          <a:ln w="19050">
            <a:solidFill>
              <a:srgbClr val="1CC8D8">
                <a:alpha val="65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851148" y="2713286"/>
            <a:ext cx="202692" cy="38634"/>
          </a:xfrm>
          <a:prstGeom prst="line">
            <a:avLst/>
          </a:prstGeom>
          <a:noFill/>
          <a:ln w="19050">
            <a:solidFill>
              <a:srgbClr val="028090">
                <a:alpha val="65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053840" y="2751920"/>
            <a:ext cx="202692" cy="39012"/>
          </a:xfrm>
          <a:prstGeom prst="line">
            <a:avLst/>
          </a:prstGeom>
          <a:noFill/>
          <a:ln w="19050">
            <a:solidFill>
              <a:srgbClr val="028090">
                <a:alpha val="65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256532" y="2790932"/>
            <a:ext cx="202692" cy="30749"/>
          </a:xfrm>
          <a:prstGeom prst="line">
            <a:avLst/>
          </a:prstGeom>
          <a:noFill/>
          <a:ln w="19050">
            <a:solidFill>
              <a:srgbClr val="1CC8D8">
                <a:alpha val="65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459224" y="2821681"/>
            <a:ext cx="202692" cy="19730"/>
          </a:xfrm>
          <a:prstGeom prst="line">
            <a:avLst/>
          </a:prstGeom>
          <a:noFill/>
          <a:ln w="19050">
            <a:solidFill>
              <a:srgbClr val="028090">
                <a:alpha val="65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661916" y="2841410"/>
            <a:ext cx="202692" cy="6125"/>
          </a:xfrm>
          <a:prstGeom prst="line">
            <a:avLst/>
          </a:prstGeom>
          <a:noFill/>
          <a:ln w="19050">
            <a:solidFill>
              <a:srgbClr val="028090">
                <a:alpha val="650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864608" y="2847535"/>
            <a:ext cx="202692" cy="-12872"/>
          </a:xfrm>
          <a:prstGeom prst="line">
            <a:avLst/>
          </a:prstGeom>
          <a:noFill/>
          <a:ln w="19050">
            <a:solidFill>
              <a:srgbClr val="1CC8D8">
                <a:alpha val="6500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5067300" y="2834663"/>
            <a:ext cx="202692" cy="-36678"/>
          </a:xfrm>
          <a:prstGeom prst="line">
            <a:avLst/>
          </a:prstGeom>
          <a:noFill/>
          <a:ln w="19050">
            <a:solidFill>
              <a:srgbClr val="028090">
                <a:alpha val="6500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5269992" y="2797985"/>
            <a:ext cx="202692" cy="-56990"/>
          </a:xfrm>
          <a:prstGeom prst="line">
            <a:avLst/>
          </a:prstGeom>
          <a:noFill/>
          <a:ln w="19050">
            <a:solidFill>
              <a:srgbClr val="028090">
                <a:alpha val="6500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5472684" y="2740995"/>
            <a:ext cx="202692" cy="-59950"/>
          </a:xfrm>
          <a:prstGeom prst="line">
            <a:avLst/>
          </a:prstGeom>
          <a:noFill/>
          <a:ln w="19050">
            <a:solidFill>
              <a:srgbClr val="1CC8D8">
                <a:alpha val="6500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5675376" y="2681045"/>
            <a:ext cx="202692" cy="-34597"/>
          </a:xfrm>
          <a:prstGeom prst="line">
            <a:avLst/>
          </a:prstGeom>
          <a:noFill/>
          <a:ln w="19050">
            <a:solidFill>
              <a:srgbClr val="028090">
                <a:alpha val="65000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5878068" y="2646448"/>
            <a:ext cx="202692" cy="17480"/>
          </a:xfrm>
          <a:prstGeom prst="line">
            <a:avLst/>
          </a:prstGeom>
          <a:noFill/>
          <a:ln w="19050">
            <a:solidFill>
              <a:srgbClr val="028090">
                <a:alpha val="65000"/>
              </a:srgbClr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6080760" y="2663928"/>
            <a:ext cx="202692" cy="78248"/>
          </a:xfrm>
          <a:prstGeom prst="line">
            <a:avLst/>
          </a:prstGeom>
          <a:noFill/>
          <a:ln w="19050">
            <a:solidFill>
              <a:srgbClr val="1CC8D8">
                <a:alpha val="65000"/>
              </a:srgbClr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6283452" y="2742176"/>
            <a:ext cx="202692" cy="119188"/>
          </a:xfrm>
          <a:prstGeom prst="line">
            <a:avLst/>
          </a:prstGeom>
          <a:noFill/>
          <a:ln w="19050">
            <a:solidFill>
              <a:srgbClr val="028090">
                <a:alpha val="65000"/>
              </a:srgbClr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6486144" y="2861364"/>
            <a:ext cx="202692" cy="115286"/>
          </a:xfrm>
          <a:prstGeom prst="line">
            <a:avLst/>
          </a:prstGeom>
          <a:noFill/>
          <a:ln w="19050">
            <a:solidFill>
              <a:srgbClr val="028090">
                <a:alpha val="65000"/>
              </a:srgbClr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6688836" y="2976650"/>
            <a:ext cx="202692" cy="59739"/>
          </a:xfrm>
          <a:prstGeom prst="line">
            <a:avLst/>
          </a:prstGeom>
          <a:noFill/>
          <a:ln w="19050">
            <a:solidFill>
              <a:srgbClr val="1CC8D8">
                <a:alpha val="65000"/>
              </a:srgbClr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6891528" y="3036389"/>
            <a:ext cx="202692" cy="-29372"/>
          </a:xfrm>
          <a:prstGeom prst="line">
            <a:avLst/>
          </a:prstGeom>
          <a:noFill/>
          <a:ln w="19050">
            <a:solidFill>
              <a:srgbClr val="028090">
                <a:alpha val="65000"/>
              </a:srgbClr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7094220" y="3007017"/>
            <a:ext cx="202692" cy="-115307"/>
          </a:xfrm>
          <a:prstGeom prst="line">
            <a:avLst/>
          </a:prstGeom>
          <a:noFill/>
          <a:ln w="19050">
            <a:solidFill>
              <a:srgbClr val="028090">
                <a:alpha val="65000"/>
              </a:srgbClr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7296912" y="2891710"/>
            <a:ext cx="202692" cy="-159586"/>
          </a:xfrm>
          <a:prstGeom prst="line">
            <a:avLst/>
          </a:prstGeom>
          <a:noFill/>
          <a:ln w="19050">
            <a:solidFill>
              <a:srgbClr val="1CC8D8">
                <a:alpha val="65000"/>
              </a:srgbClr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7499604" y="2732124"/>
            <a:ext cx="202692" cy="-141043"/>
          </a:xfrm>
          <a:prstGeom prst="line">
            <a:avLst/>
          </a:prstGeom>
          <a:noFill/>
          <a:ln w="19050">
            <a:solidFill>
              <a:srgbClr val="028090">
                <a:alpha val="65000"/>
              </a:srgbClr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7702296" y="2591080"/>
            <a:ext cx="202692" cy="-66835"/>
          </a:xfrm>
          <a:prstGeom prst="line">
            <a:avLst/>
          </a:prstGeom>
          <a:noFill/>
          <a:ln w="19050">
            <a:solidFill>
              <a:srgbClr val="028090">
                <a:alpha val="65000"/>
              </a:srgbClr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7904988" y="2524246"/>
            <a:ext cx="202692" cy="30704"/>
          </a:xfrm>
          <a:prstGeom prst="line">
            <a:avLst/>
          </a:prstGeom>
          <a:noFill/>
          <a:ln w="19050">
            <a:solidFill>
              <a:srgbClr val="1CC8D8">
                <a:alpha val="65000"/>
              </a:srgbClr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8107680" y="2554950"/>
            <a:ext cx="202692" cy="109826"/>
          </a:xfrm>
          <a:prstGeom prst="line">
            <a:avLst/>
          </a:prstGeom>
          <a:noFill/>
          <a:ln w="19050">
            <a:solidFill>
              <a:srgbClr val="028090">
                <a:alpha val="65000"/>
              </a:srgbClr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8310372" y="2664776"/>
            <a:ext cx="202692" cy="139399"/>
          </a:xfrm>
          <a:prstGeom prst="line">
            <a:avLst/>
          </a:prstGeom>
          <a:noFill/>
          <a:ln w="19050">
            <a:solidFill>
              <a:srgbClr val="028090">
                <a:alpha val="65000"/>
              </a:srgbClr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8513064" y="2804175"/>
            <a:ext cx="202692" cy="112716"/>
          </a:xfrm>
          <a:prstGeom prst="line">
            <a:avLst/>
          </a:prstGeom>
          <a:noFill/>
          <a:ln w="19050">
            <a:solidFill>
              <a:srgbClr val="1CC8D8">
                <a:alpha val="65000"/>
              </a:srgbClr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8715756" y="2916891"/>
            <a:ext cx="202692" cy="48335"/>
          </a:xfrm>
          <a:prstGeom prst="line">
            <a:avLst/>
          </a:prstGeom>
          <a:noFill/>
          <a:ln w="19050">
            <a:solidFill>
              <a:srgbClr val="028090">
                <a:alpha val="65000"/>
              </a:srgbClr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8918448" y="2965226"/>
            <a:ext cx="202692" cy="-21541"/>
          </a:xfrm>
          <a:prstGeom prst="line">
            <a:avLst/>
          </a:prstGeom>
          <a:noFill/>
          <a:ln w="19050">
            <a:solidFill>
              <a:srgbClr val="028090">
                <a:alpha val="65000"/>
              </a:srgbClr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9121140" y="2943685"/>
            <a:ext cx="202692" cy="-67965"/>
          </a:xfrm>
          <a:prstGeom prst="line">
            <a:avLst/>
          </a:prstGeom>
          <a:noFill/>
          <a:ln w="19050">
            <a:solidFill>
              <a:srgbClr val="1CC8D8">
                <a:alpha val="65000"/>
              </a:srgbClr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9323832" y="2875720"/>
            <a:ext cx="202692" cy="-78086"/>
          </a:xfrm>
          <a:prstGeom prst="line">
            <a:avLst/>
          </a:prstGeom>
          <a:noFill/>
          <a:ln w="19050">
            <a:solidFill>
              <a:srgbClr val="028090">
                <a:alpha val="65000"/>
              </a:srgbClr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9526524" y="2797634"/>
            <a:ext cx="202692" cy="-57754"/>
          </a:xfrm>
          <a:prstGeom prst="line">
            <a:avLst/>
          </a:prstGeom>
          <a:noFill/>
          <a:ln w="19050">
            <a:solidFill>
              <a:srgbClr val="028090">
                <a:alpha val="65000"/>
              </a:srgbClr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9729216" y="2739880"/>
            <a:ext cx="202692" cy="-24123"/>
          </a:xfrm>
          <a:prstGeom prst="line">
            <a:avLst/>
          </a:prstGeom>
          <a:noFill/>
          <a:ln w="19050">
            <a:solidFill>
              <a:srgbClr val="1CC8D8">
                <a:alpha val="65000"/>
              </a:srgbClr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9931908" y="2715756"/>
            <a:ext cx="202692" cy="5913"/>
          </a:xfrm>
          <a:prstGeom prst="line">
            <a:avLst/>
          </a:prstGeom>
          <a:noFill/>
          <a:ln w="19050">
            <a:solidFill>
              <a:srgbClr val="028090">
                <a:alpha val="65000"/>
              </a:srgbClr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10134600" y="2721670"/>
            <a:ext cx="202692" cy="24053"/>
          </a:xfrm>
          <a:prstGeom prst="line">
            <a:avLst/>
          </a:prstGeom>
          <a:noFill/>
          <a:ln w="19050">
            <a:solidFill>
              <a:srgbClr val="028090">
                <a:alpha val="65000"/>
              </a:srgbClr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10337292" y="2745722"/>
            <a:ext cx="202692" cy="31376"/>
          </a:xfrm>
          <a:prstGeom prst="line">
            <a:avLst/>
          </a:prstGeom>
          <a:noFill/>
          <a:ln w="19050">
            <a:solidFill>
              <a:srgbClr val="1CC8D8">
                <a:alpha val="65000"/>
              </a:srgbClr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10539984" y="2777098"/>
            <a:ext cx="202692" cy="32750"/>
          </a:xfrm>
          <a:prstGeom prst="line">
            <a:avLst/>
          </a:prstGeom>
          <a:noFill/>
          <a:ln w="19050">
            <a:solidFill>
              <a:srgbClr val="028090">
                <a:alpha val="65000"/>
              </a:srgbClr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10742676" y="2809848"/>
            <a:ext cx="202692" cy="30127"/>
          </a:xfrm>
          <a:prstGeom prst="line">
            <a:avLst/>
          </a:prstGeom>
          <a:noFill/>
          <a:ln w="19050">
            <a:solidFill>
              <a:srgbClr val="028090">
                <a:alpha val="65000"/>
              </a:srgbClr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10945368" y="2839975"/>
            <a:ext cx="202692" cy="20240"/>
          </a:xfrm>
          <a:prstGeom prst="line">
            <a:avLst/>
          </a:prstGeom>
          <a:noFill/>
          <a:ln w="19050">
            <a:solidFill>
              <a:srgbClr val="1CC8D8">
                <a:alpha val="65000"/>
              </a:srgbClr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11148060" y="2860215"/>
            <a:ext cx="202692" cy="-1464"/>
          </a:xfrm>
          <a:prstGeom prst="line">
            <a:avLst/>
          </a:prstGeom>
          <a:noFill/>
          <a:ln w="19050">
            <a:solidFill>
              <a:srgbClr val="028090">
                <a:alpha val="65000"/>
              </a:srgbClr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11350752" y="2858751"/>
            <a:ext cx="202692" cy="-33799"/>
          </a:xfrm>
          <a:prstGeom prst="line">
            <a:avLst/>
          </a:prstGeom>
          <a:noFill/>
          <a:ln w="19050">
            <a:solidFill>
              <a:srgbClr val="028090">
                <a:alpha val="65000"/>
              </a:srgbClr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11553444" y="2824952"/>
            <a:ext cx="202692" cy="-65625"/>
          </a:xfrm>
          <a:prstGeom prst="line">
            <a:avLst/>
          </a:prstGeom>
          <a:noFill/>
          <a:ln w="19050">
            <a:solidFill>
              <a:srgbClr val="1CC8D8">
                <a:alpha val="65000"/>
              </a:srgbClr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11756136" y="2759328"/>
            <a:ext cx="202692" cy="-78874"/>
          </a:xfrm>
          <a:prstGeom prst="line">
            <a:avLst/>
          </a:prstGeom>
          <a:noFill/>
          <a:ln w="19050">
            <a:solidFill>
              <a:srgbClr val="028090">
                <a:alpha val="65000"/>
              </a:srgbClr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11958828" y="2680454"/>
            <a:ext cx="202692" cy="-58432"/>
          </a:xfrm>
          <a:prstGeom prst="line">
            <a:avLst/>
          </a:prstGeom>
          <a:noFill/>
          <a:ln w="19050">
            <a:solidFill>
              <a:srgbClr val="028090">
                <a:alpha val="65000"/>
              </a:srgbClr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640080" y="137160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1CC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RECONSTRUCTIE TEXT DIN SEMNAL EEG</a:t>
            </a:r>
            <a:endParaRPr lang="en-US" sz="1400" dirty="0"/>
          </a:p>
        </p:txBody>
      </p:sp>
      <p:sp>
        <p:nvSpPr>
          <p:cNvPr id="63" name="Text 61"/>
          <p:cNvSpPr/>
          <p:nvPr/>
        </p:nvSpPr>
        <p:spPr>
          <a:xfrm>
            <a:off x="594360" y="1783080"/>
            <a:ext cx="10972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EEG-to-Text</a:t>
            </a:r>
            <a:endParaRPr lang="en-US" sz="6000" dirty="0"/>
          </a:p>
        </p:txBody>
      </p:sp>
      <p:sp>
        <p:nvSpPr>
          <p:cNvPr id="64" name="Text 62"/>
          <p:cNvSpPr/>
          <p:nvPr/>
        </p:nvSpPr>
        <p:spPr>
          <a:xfrm>
            <a:off x="640080" y="315468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AFC4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Decodarea cuvantului citit direct din activitatea cerebrala</a:t>
            </a:r>
            <a:endParaRPr lang="en-US" sz="1800" dirty="0"/>
          </a:p>
        </p:txBody>
      </p:sp>
      <p:sp>
        <p:nvSpPr>
          <p:cNvPr id="65" name="Shape 63"/>
          <p:cNvSpPr/>
          <p:nvPr/>
        </p:nvSpPr>
        <p:spPr>
          <a:xfrm>
            <a:off x="640080" y="4206240"/>
            <a:ext cx="3474720" cy="1234440"/>
          </a:xfrm>
          <a:prstGeom prst="rect">
            <a:avLst/>
          </a:prstGeom>
          <a:solidFill>
            <a:srgbClr val="13283D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640080" y="4206240"/>
            <a:ext cx="73152" cy="1234440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67" name="Text 65"/>
          <p:cNvSpPr/>
          <p:nvPr/>
        </p:nvSpPr>
        <p:spPr>
          <a:xfrm>
            <a:off x="868680" y="4370832"/>
            <a:ext cx="3154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P1 — Laslo Tudor Alexandru</a:t>
            </a:r>
            <a:endParaRPr lang="en-US" sz="1400" dirty="0"/>
          </a:p>
        </p:txBody>
      </p:sp>
      <p:sp>
        <p:nvSpPr>
          <p:cNvPr id="68" name="Text 66"/>
          <p:cNvSpPr/>
          <p:nvPr/>
        </p:nvSpPr>
        <p:spPr>
          <a:xfrm>
            <a:off x="868680" y="4773168"/>
            <a:ext cx="3154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FB6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ZuCo 1.0: ERP/PSD + EEGNet</a:t>
            </a:r>
            <a:endParaRPr lang="en-US" sz="1200" dirty="0"/>
          </a:p>
        </p:txBody>
      </p:sp>
      <p:sp>
        <p:nvSpPr>
          <p:cNvPr id="69" name="Shape 67"/>
          <p:cNvSpPr/>
          <p:nvPr/>
        </p:nvSpPr>
        <p:spPr>
          <a:xfrm>
            <a:off x="4343400" y="4206240"/>
            <a:ext cx="3474720" cy="1234440"/>
          </a:xfrm>
          <a:prstGeom prst="rect">
            <a:avLst/>
          </a:prstGeom>
          <a:solidFill>
            <a:srgbClr val="13283D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>
            <a:off x="4343400" y="4206240"/>
            <a:ext cx="73152" cy="1234440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71" name="Text 69"/>
          <p:cNvSpPr/>
          <p:nvPr/>
        </p:nvSpPr>
        <p:spPr>
          <a:xfrm>
            <a:off x="4572000" y="4370832"/>
            <a:ext cx="3154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P2 — Magdas Vlad</a:t>
            </a:r>
            <a:endParaRPr lang="en-US" sz="1400" dirty="0"/>
          </a:p>
        </p:txBody>
      </p:sp>
      <p:sp>
        <p:nvSpPr>
          <p:cNvPr id="72" name="Text 70"/>
          <p:cNvSpPr/>
          <p:nvPr/>
        </p:nvSpPr>
        <p:spPr>
          <a:xfrm>
            <a:off x="4572000" y="4773168"/>
            <a:ext cx="3154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FB6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Evaluare + EEG-Conformer InfoNCE</a:t>
            </a:r>
            <a:endParaRPr lang="en-US" sz="1200" dirty="0"/>
          </a:p>
        </p:txBody>
      </p:sp>
      <p:sp>
        <p:nvSpPr>
          <p:cNvPr id="73" name="Shape 71"/>
          <p:cNvSpPr/>
          <p:nvPr/>
        </p:nvSpPr>
        <p:spPr>
          <a:xfrm>
            <a:off x="8046720" y="4206240"/>
            <a:ext cx="3474720" cy="1234440"/>
          </a:xfrm>
          <a:prstGeom prst="rect">
            <a:avLst/>
          </a:prstGeom>
          <a:solidFill>
            <a:srgbClr val="13283D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74" name="Shape 72"/>
          <p:cNvSpPr/>
          <p:nvPr/>
        </p:nvSpPr>
        <p:spPr>
          <a:xfrm>
            <a:off x="8046720" y="4206240"/>
            <a:ext cx="73152" cy="1234440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75" name="Text 73"/>
          <p:cNvSpPr/>
          <p:nvPr/>
        </p:nvSpPr>
        <p:spPr>
          <a:xfrm>
            <a:off x="8275320" y="4370832"/>
            <a:ext cx="3154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P3 — Lupse Ioan Victor</a:t>
            </a:r>
            <a:endParaRPr lang="en-US" sz="1400" dirty="0"/>
          </a:p>
        </p:txBody>
      </p:sp>
      <p:sp>
        <p:nvSpPr>
          <p:cNvPr id="76" name="Text 74"/>
          <p:cNvSpPr/>
          <p:nvPr/>
        </p:nvSpPr>
        <p:spPr>
          <a:xfrm>
            <a:off x="8275320" y="4773168"/>
            <a:ext cx="3154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FB6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Analiza lingvistica + UI/Backend</a:t>
            </a:r>
            <a:endParaRPr lang="en-US" sz="1200" dirty="0"/>
          </a:p>
        </p:txBody>
      </p:sp>
      <p:sp>
        <p:nvSpPr>
          <p:cNvPr id="77" name="Text 75"/>
          <p:cNvSpPr/>
          <p:nvPr/>
        </p:nvSpPr>
        <p:spPr>
          <a:xfrm>
            <a:off x="640080" y="598932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70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Inteligenta Artificiala  ·  Mai 2026  ·  Dataset ZuCo (Universitatea Zurich)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CE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3283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Problema, solutia si impactul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6583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500" dirty="0">
                <a:solidFill>
                  <a:srgbClr val="132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Persoanele cu paralizie severa sau sindrom locked-in pierd capacitatea de a comunica verbal. Scopul proiectului este sa testam fezabilitatea decodarii textului direct din semnalul EEG inregistrat in timp ce subiectul citeste un cuvant.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2834640"/>
            <a:ext cx="658368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6E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2834640"/>
            <a:ext cx="91440" cy="82296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7" name="Text 5"/>
          <p:cNvSpPr/>
          <p:nvPr/>
        </p:nvSpPr>
        <p:spPr>
          <a:xfrm>
            <a:off x="777240" y="2953512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2809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Input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2194560" y="2926080"/>
            <a:ext cx="4800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32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Epoch EEG: 105 canale x 500 esantioane (-200 .. +800 ms fata de aparitia cuvantului)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548640" y="3767328"/>
            <a:ext cx="658368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6E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48640" y="3767328"/>
            <a:ext cx="91440" cy="822960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11" name="Text 9"/>
          <p:cNvSpPr/>
          <p:nvPr/>
        </p:nvSpPr>
        <p:spPr>
          <a:xfrm>
            <a:off x="777240" y="388620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2C39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Proces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2194560" y="3858768"/>
            <a:ext cx="4800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32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Encoder EEG -&gt; proiectie in spatiul semantic BERT -&gt; cosine similarity cu 200 cuvinte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548640" y="4700016"/>
            <a:ext cx="658368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6EE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48640" y="4700016"/>
            <a:ext cx="91440" cy="822960"/>
          </a:xfrm>
          <a:prstGeom prst="rect">
            <a:avLst/>
          </a:prstGeom>
          <a:solidFill>
            <a:srgbClr val="1CC8D8"/>
          </a:solidFill>
          <a:ln/>
        </p:spPr>
      </p:sp>
      <p:sp>
        <p:nvSpPr>
          <p:cNvPr id="15" name="Text 13"/>
          <p:cNvSpPr/>
          <p:nvPr/>
        </p:nvSpPr>
        <p:spPr>
          <a:xfrm>
            <a:off x="777240" y="4818888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CC8D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Output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2194560" y="4791456"/>
            <a:ext cx="4800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32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Top-5 cuvinte candidate, ordonate dupa scor de similaritate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7452360" y="1417320"/>
            <a:ext cx="4160520" cy="4572000"/>
          </a:xfrm>
          <a:prstGeom prst="rect">
            <a:avLst/>
          </a:prstGeom>
          <a:solidFill>
            <a:srgbClr val="0E1B2A"/>
          </a:solidFill>
          <a:ln/>
        </p:spPr>
      </p:sp>
      <p:sp>
        <p:nvSpPr>
          <p:cNvPr id="18" name="Text 16"/>
          <p:cNvSpPr/>
          <p:nvPr/>
        </p:nvSpPr>
        <p:spPr>
          <a:xfrm>
            <a:off x="7726680" y="16459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C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 — SDG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7726680" y="2148840"/>
            <a:ext cx="361188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SDG 3 — Sanatate</a:t>
            </a:r>
            <a:endParaRPr lang="en-US" sz="16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1300" dirty="0">
                <a:solidFill>
                  <a:srgbClr val="AFC4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Interfata creier-calculator (BCI) pentru comunicare nonverbala.</a:t>
            </a:r>
            <a:endParaRPr lang="en-US" sz="16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SDG 10 — Accesibilitate</a:t>
            </a:r>
            <a:endParaRPr lang="en-US" sz="1600" dirty="0"/>
          </a:p>
          <a:p>
            <a:pPr indent="0" marL="0">
              <a:buNone/>
            </a:pPr>
            <a:r>
              <a:rPr lang="en-US" sz="1300" dirty="0">
                <a:solidFill>
                  <a:srgbClr val="AFC4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Asistarea persoanelor cu dizabilitati motorii grave.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7726680" y="4617720"/>
            <a:ext cx="3566160" cy="0"/>
          </a:xfrm>
          <a:prstGeom prst="line">
            <a:avLst/>
          </a:prstGeom>
          <a:noFill/>
          <a:ln w="12700">
            <a:solidFill>
              <a:srgbClr val="02809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726680" y="4800600"/>
            <a:ext cx="3611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Nota: nu este recunoastere vocala. 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AFC4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Sistemul decodeaza semnalul cerebral direct in text.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45720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70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EEG-to-Text  ·  IA — Echipa Laslo / Magdas / Lupse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11247120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70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3283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Datasetul ZuCo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32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Zurich Cognitive Language Processing Corpus — EEG inregistrat in timp ce subiectii citesc propozitii. Fiecare fixatie pe un cuvant produce un epoch EEG.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548640" y="2148840"/>
            <a:ext cx="260604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6E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2286000"/>
            <a:ext cx="2606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02809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12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548640" y="2926080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5B70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subiecti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3337560" y="2148840"/>
            <a:ext cx="260604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6E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337560" y="2286000"/>
            <a:ext cx="2606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02C39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105</a:t>
            </a:r>
            <a:endParaRPr lang="en-US" sz="3400" dirty="0"/>
          </a:p>
        </p:txBody>
      </p:sp>
      <p:sp>
        <p:nvSpPr>
          <p:cNvPr id="10" name="Text 8"/>
          <p:cNvSpPr/>
          <p:nvPr/>
        </p:nvSpPr>
        <p:spPr>
          <a:xfrm>
            <a:off x="3337560" y="2926080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5B70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canale EEG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6126480" y="2148840"/>
            <a:ext cx="260604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6E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126480" y="2286000"/>
            <a:ext cx="2606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1CC8D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500 Hz</a:t>
            </a:r>
            <a:endParaRPr lang="en-US" sz="3400" dirty="0"/>
          </a:p>
        </p:txBody>
      </p:sp>
      <p:sp>
        <p:nvSpPr>
          <p:cNvPr id="13" name="Text 11"/>
          <p:cNvSpPr/>
          <p:nvPr/>
        </p:nvSpPr>
        <p:spPr>
          <a:xfrm>
            <a:off x="6126480" y="2926080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5B70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frecventa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8915400" y="2148840"/>
            <a:ext cx="260604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6E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915400" y="2286000"/>
            <a:ext cx="2606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2A65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10.751</a:t>
            </a:r>
            <a:endParaRPr lang="en-US" sz="3400" dirty="0"/>
          </a:p>
        </p:txBody>
      </p:sp>
      <p:sp>
        <p:nvSpPr>
          <p:cNvPr id="16" name="Text 14"/>
          <p:cNvSpPr/>
          <p:nvPr/>
        </p:nvSpPr>
        <p:spPr>
          <a:xfrm>
            <a:off x="8915400" y="2926080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5B70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epoch-uri EEG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548640" y="3703320"/>
            <a:ext cx="544068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6EE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48640" y="3703320"/>
            <a:ext cx="5440680" cy="9144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19" name="Text 17"/>
          <p:cNvSpPr/>
          <p:nvPr/>
        </p:nvSpPr>
        <p:spPr>
          <a:xfrm>
            <a:off x="822960" y="3950208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3283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Task 1 — Sentiment Reading (SR)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822960" y="4343400"/>
            <a:ext cx="4937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458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Recenzii de filme. Vocabular grupat semantic (film, movie, story).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6172200" y="3703320"/>
            <a:ext cx="544068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6EE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172200" y="3703320"/>
            <a:ext cx="5440680" cy="91440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23" name="Text 21"/>
          <p:cNvSpPr/>
          <p:nvPr/>
        </p:nvSpPr>
        <p:spPr>
          <a:xfrm>
            <a:off x="6446520" y="3950208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3283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Task 2 — Normal Reading (NR)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6446520" y="4343400"/>
            <a:ext cx="4937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458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Propozitii Wikipedia. Adauga politica, istorie, stiinta — spatiu semantic mai divers.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548640" y="5349240"/>
            <a:ext cx="11064240" cy="868680"/>
          </a:xfrm>
          <a:prstGeom prst="rect">
            <a:avLst/>
          </a:prstGeom>
          <a:solidFill>
            <a:srgbClr val="13283D"/>
          </a:solidFill>
          <a:ln/>
        </p:spPr>
      </p:sp>
      <p:sp>
        <p:nvSpPr>
          <p:cNvPr id="26" name="Text 24"/>
          <p:cNvSpPr/>
          <p:nvPr/>
        </p:nvSpPr>
        <p:spPr>
          <a:xfrm>
            <a:off x="822960" y="5349240"/>
            <a:ext cx="10515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C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Componente ERP cheie:  </a:t>
            </a:r>
            <a:pPr indent="0" marL="0">
              <a:buNone/>
            </a:pPr>
            <a:r>
              <a:rPr lang="en-US" sz="1300" dirty="0">
                <a:solidFill>
                  <a:srgbClr val="DCE7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N200 (~200ms) recunoastere vizuala   ·   P300 (~300ms) actualizare context   ·   </a:t>
            </a:r>
            <a:pPr indent="0" marL="0">
              <a:buNone/>
            </a:pPr>
            <a:r>
              <a:rPr lang="en-US" sz="13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N400 (~400ms)</a:t>
            </a:r>
            <a:pPr indent="0" marL="0">
              <a:buNone/>
            </a:pPr>
            <a:r>
              <a:rPr lang="en-US" sz="1300" dirty="0">
                <a:solidFill>
                  <a:srgbClr val="DCE7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integrare semantica — cea mai informativa pentru identitatea cuvantului.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45720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70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EEG-to-Text  ·  IA — Echipa Laslo / Magdas / Lupse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11247120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70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ARHITECTURA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3283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Pipeline-ul complet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2148840" cy="237744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6E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330452" y="1965960"/>
            <a:ext cx="585216" cy="585216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6" name="Text 4"/>
          <p:cNvSpPr/>
          <p:nvPr/>
        </p:nvSpPr>
        <p:spPr>
          <a:xfrm>
            <a:off x="1330452" y="1965960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685800" y="2697480"/>
            <a:ext cx="1874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3283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Semnal EEG brut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685800" y="3310128"/>
            <a:ext cx="1874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4458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105 canale x 500 esantioane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2679192" y="2697480"/>
            <a:ext cx="1554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2C39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&gt;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2816352" y="1783080"/>
            <a:ext cx="2148840" cy="237744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6EE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598164" y="1965960"/>
            <a:ext cx="585216" cy="585216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2" name="Text 10"/>
          <p:cNvSpPr/>
          <p:nvPr/>
        </p:nvSpPr>
        <p:spPr>
          <a:xfrm>
            <a:off x="3598164" y="1965960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2953512" y="2697480"/>
            <a:ext cx="1874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3283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Preprocesare</a:t>
            </a:r>
            <a:endParaRPr lang="en-US" sz="1450" dirty="0"/>
          </a:p>
        </p:txBody>
      </p:sp>
      <p:sp>
        <p:nvSpPr>
          <p:cNvPr id="14" name="Text 12"/>
          <p:cNvSpPr/>
          <p:nvPr/>
        </p:nvSpPr>
        <p:spPr>
          <a:xfrm>
            <a:off x="2953512" y="3310128"/>
            <a:ext cx="1874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4458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Filtru 0.5-40 Hz + normalizare z-score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4946904" y="2697480"/>
            <a:ext cx="1554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2C39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&gt;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5084064" y="1783080"/>
            <a:ext cx="2148840" cy="237744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6EE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865876" y="1965960"/>
            <a:ext cx="585216" cy="585216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8" name="Text 16"/>
          <p:cNvSpPr/>
          <p:nvPr/>
        </p:nvSpPr>
        <p:spPr>
          <a:xfrm>
            <a:off x="5865876" y="1965960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5221224" y="2697480"/>
            <a:ext cx="1874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3283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Encoder EEG</a:t>
            </a:r>
            <a:endParaRPr lang="en-US" sz="1450" dirty="0"/>
          </a:p>
        </p:txBody>
      </p:sp>
      <p:sp>
        <p:nvSpPr>
          <p:cNvPr id="20" name="Text 18"/>
          <p:cNvSpPr/>
          <p:nvPr/>
        </p:nvSpPr>
        <p:spPr>
          <a:xfrm>
            <a:off x="5221224" y="3310128"/>
            <a:ext cx="1874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4458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EEGNet / EEG-Conformer -&gt; vector 128-dim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7214616" y="2697480"/>
            <a:ext cx="1554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2C39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&gt;</a:t>
            </a:r>
            <a:endParaRPr lang="en-US" sz="2000" dirty="0"/>
          </a:p>
        </p:txBody>
      </p:sp>
      <p:sp>
        <p:nvSpPr>
          <p:cNvPr id="22" name="Shape 20"/>
          <p:cNvSpPr/>
          <p:nvPr/>
        </p:nvSpPr>
        <p:spPr>
          <a:xfrm>
            <a:off x="7351776" y="1783080"/>
            <a:ext cx="2148840" cy="237744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6EE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8133588" y="1965960"/>
            <a:ext cx="585216" cy="585216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24" name="Text 22"/>
          <p:cNvSpPr/>
          <p:nvPr/>
        </p:nvSpPr>
        <p:spPr>
          <a:xfrm>
            <a:off x="8133588" y="1965960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lang="en-US" sz="2200" dirty="0"/>
          </a:p>
        </p:txBody>
      </p:sp>
      <p:sp>
        <p:nvSpPr>
          <p:cNvPr id="25" name="Text 23"/>
          <p:cNvSpPr/>
          <p:nvPr/>
        </p:nvSpPr>
        <p:spPr>
          <a:xfrm>
            <a:off x="7488936" y="2697480"/>
            <a:ext cx="1874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3283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Cap de proiectie</a:t>
            </a:r>
            <a:endParaRPr lang="en-US" sz="1450" dirty="0"/>
          </a:p>
        </p:txBody>
      </p:sp>
      <p:sp>
        <p:nvSpPr>
          <p:cNvPr id="26" name="Text 24"/>
          <p:cNvSpPr/>
          <p:nvPr/>
        </p:nvSpPr>
        <p:spPr>
          <a:xfrm>
            <a:off x="7488936" y="3310128"/>
            <a:ext cx="1874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4458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MLP: 128 -&gt; 256 -&gt; 768 dim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9482328" y="2697480"/>
            <a:ext cx="1554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2C39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&gt;</a:t>
            </a:r>
            <a:endParaRPr lang="en-US" sz="2000" dirty="0"/>
          </a:p>
        </p:txBody>
      </p:sp>
      <p:sp>
        <p:nvSpPr>
          <p:cNvPr id="28" name="Shape 26"/>
          <p:cNvSpPr/>
          <p:nvPr/>
        </p:nvSpPr>
        <p:spPr>
          <a:xfrm>
            <a:off x="9619488" y="1783080"/>
            <a:ext cx="2148840" cy="237744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6EE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10401300" y="1965960"/>
            <a:ext cx="585216" cy="585216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30" name="Text 28"/>
          <p:cNvSpPr/>
          <p:nvPr/>
        </p:nvSpPr>
        <p:spPr>
          <a:xfrm>
            <a:off x="10401300" y="1965960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</a:t>
            </a:r>
            <a:endParaRPr lang="en-US" sz="2200" dirty="0"/>
          </a:p>
        </p:txBody>
      </p:sp>
      <p:sp>
        <p:nvSpPr>
          <p:cNvPr id="31" name="Text 29"/>
          <p:cNvSpPr/>
          <p:nvPr/>
        </p:nvSpPr>
        <p:spPr>
          <a:xfrm>
            <a:off x="9756648" y="2697480"/>
            <a:ext cx="1874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3283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Retrieval BERT</a:t>
            </a:r>
            <a:endParaRPr lang="en-US" sz="1450" dirty="0"/>
          </a:p>
        </p:txBody>
      </p:sp>
      <p:sp>
        <p:nvSpPr>
          <p:cNvPr id="32" name="Text 30"/>
          <p:cNvSpPr/>
          <p:nvPr/>
        </p:nvSpPr>
        <p:spPr>
          <a:xfrm>
            <a:off x="9756648" y="3310128"/>
            <a:ext cx="1874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4458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Cosine similarity vs. 200 cuvinte -&gt; Top-5</a:t>
            </a:r>
            <a:endParaRPr lang="en-US" sz="1150" dirty="0"/>
          </a:p>
        </p:txBody>
      </p:sp>
      <p:sp>
        <p:nvSpPr>
          <p:cNvPr id="33" name="Shape 31"/>
          <p:cNvSpPr/>
          <p:nvPr/>
        </p:nvSpPr>
        <p:spPr>
          <a:xfrm>
            <a:off x="548640" y="4434840"/>
            <a:ext cx="11064240" cy="1783080"/>
          </a:xfrm>
          <a:prstGeom prst="rect">
            <a:avLst/>
          </a:prstGeom>
          <a:solidFill>
            <a:srgbClr val="0E1B2A"/>
          </a:solidFill>
          <a:ln/>
        </p:spPr>
      </p:sp>
      <p:sp>
        <p:nvSpPr>
          <p:cNvPr id="34" name="Text 32"/>
          <p:cNvSpPr/>
          <p:nvPr/>
        </p:nvSpPr>
        <p:spPr>
          <a:xfrm>
            <a:off x="822960" y="461772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CC8D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 ce un cap de proiectie neliniar?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822960" y="5029200"/>
            <a:ext cx="105156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C8D6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Spatiul EEG (128-dim) si spatiul semantic BERT (768-dim) au structuri geometrice complet diferite. Un singur strat liniar nu poate traduce intre ele, asa ca folosim un MLP cu strat ascuns (Linear 128-&gt;256 -&gt; LayerNorm -&gt; ReLU -&gt; Dropout 0.4 -&gt; Linear 256-&gt;768) care invata maparea.</a:t>
            </a:r>
            <a:endParaRPr lang="en-US" sz="1350" dirty="0"/>
          </a:p>
        </p:txBody>
      </p:sp>
      <p:sp>
        <p:nvSpPr>
          <p:cNvPr id="36" name="Text 34"/>
          <p:cNvSpPr/>
          <p:nvPr/>
        </p:nvSpPr>
        <p:spPr>
          <a:xfrm>
            <a:off x="45720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70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EEG-to-Text  ·  IA — Echipa Laslo / Magdas / Lupse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11247120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70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3283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Trei modele, trei strategii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3520440" cy="452628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6E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600200"/>
            <a:ext cx="3520440" cy="86868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1700784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Laslo (P1)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777240" y="2066544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AF6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EEGNet + MSE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804672" y="2697480"/>
            <a:ext cx="306324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32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EEGNet pre-antrenat pe clasificare POS (10 clase gramaticale)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32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Encoder inghetat; se antreneaza doar proiectia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32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Pierdere MSE catre embedding BERT normalizat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32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Cosine inalt (0.95) dar putin discriminativ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270248" y="1600200"/>
            <a:ext cx="3520440" cy="452628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6E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270248" y="1600200"/>
            <a:ext cx="3520440" cy="868680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11" name="Text 9"/>
          <p:cNvSpPr/>
          <p:nvPr/>
        </p:nvSpPr>
        <p:spPr>
          <a:xfrm>
            <a:off x="4498848" y="1700784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Magdas (P2)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4498848" y="2066544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AF6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EEG-Conformer + InfoNCE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526280" y="2697480"/>
            <a:ext cx="306324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32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CNN + Transformer (2 straturi, 4 capete atentie)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32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Antrenat end-to-end cu pierdere contrastiva InfoNCE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32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Maximizeaza similaritatea cu cuvantul corect vs. restul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32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Cel mai bun Top-5 dintre cele trei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7991856" y="1600200"/>
            <a:ext cx="3520440" cy="452628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6EE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991856" y="1600200"/>
            <a:ext cx="3520440" cy="868680"/>
          </a:xfrm>
          <a:prstGeom prst="rect">
            <a:avLst/>
          </a:prstGeom>
          <a:solidFill>
            <a:srgbClr val="1CC8D8"/>
          </a:solidFill>
          <a:ln/>
        </p:spPr>
      </p:sp>
      <p:sp>
        <p:nvSpPr>
          <p:cNvPr id="16" name="Text 14"/>
          <p:cNvSpPr/>
          <p:nvPr/>
        </p:nvSpPr>
        <p:spPr>
          <a:xfrm>
            <a:off x="8220456" y="1700784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Lupse (P3)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8220456" y="2066544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AF6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Conformer fine-tuned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8247888" y="2697480"/>
            <a:ext cx="306324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32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Porneste din checkpoint-ul convergat al lui Magdas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32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LR encoder 1e-5, LR proiectie 1e-4 (anti-uitare)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32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 de proiectie nou + fine-tuning conservator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32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Marginal peste Magdas la cosine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45720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70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EEG-to-Text  ·  IA — Echipa Laslo / Magdas / Lupse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1247120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70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REZULTATE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3283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Rezultate si evaluare</a:t>
            </a:r>
            <a:endParaRPr lang="en-US" sz="30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48640" y="1554480"/>
          <a:ext cx="5669280" cy="33832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46520" y="1691640"/>
          <a:ext cx="5166360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960120"/>
                <a:gridCol w="960120"/>
                <a:gridCol w="868680"/>
              </a:tblGrid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B2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Top-1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B2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Top-5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B2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Cosine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B2A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328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Laslo (EEGNet+MSE)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328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0.3-5.1%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328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1.5-7.6%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328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0.955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328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Magdas (Conformer)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328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3.8%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328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10.7%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328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0.082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328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Lupse (fine-tuned)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328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4.2%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328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10.9%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328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0.121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i="1" dirty="0">
                          <a:solidFill>
                            <a:srgbClr val="5B708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Baseline aleator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i="1" dirty="0">
                          <a:solidFill>
                            <a:srgbClr val="5B708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0.5%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i="1" dirty="0">
                          <a:solidFill>
                            <a:srgbClr val="5B708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2.5%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i="1" dirty="0">
                          <a:solidFill>
                            <a:srgbClr val="5B708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Shape 2"/>
          <p:cNvSpPr/>
          <p:nvPr/>
        </p:nvSpPr>
        <p:spPr>
          <a:xfrm>
            <a:off x="6446520" y="4160520"/>
            <a:ext cx="5166360" cy="1783080"/>
          </a:xfrm>
          <a:prstGeom prst="rect">
            <a:avLst/>
          </a:prstGeom>
          <a:solidFill>
            <a:srgbClr val="13283D"/>
          </a:solidFill>
          <a:ln/>
        </p:spPr>
      </p:sp>
      <p:sp>
        <p:nvSpPr>
          <p:cNvPr id="7" name="Text 3"/>
          <p:cNvSpPr/>
          <p:nvPr/>
        </p:nvSpPr>
        <p:spPr>
          <a:xfrm>
            <a:off x="6675120" y="4297680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C8D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Context</a:t>
            </a:r>
            <a:endParaRPr lang="en-US" sz="1400" dirty="0"/>
          </a:p>
        </p:txBody>
      </p:sp>
      <p:sp>
        <p:nvSpPr>
          <p:cNvPr id="8" name="Text 4"/>
          <p:cNvSpPr/>
          <p:nvPr/>
        </p:nvSpPr>
        <p:spPr>
          <a:xfrm>
            <a:off x="6675120" y="4663440"/>
            <a:ext cx="47548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DCE7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State-of-the-art pe ZuCo: 5-15% Top-1 cu arhitecturi dedicate pe date complete. Rezultatele noastre sunt consistente cu literatura, dat fiind marimea modelului si cantitatea de date.</a:t>
            </a:r>
            <a:endParaRPr lang="en-US" sz="1250" dirty="0"/>
          </a:p>
        </p:txBody>
      </p:sp>
      <p:sp>
        <p:nvSpPr>
          <p:cNvPr id="9" name="Text 5"/>
          <p:cNvSpPr/>
          <p:nvPr/>
        </p:nvSpPr>
        <p:spPr>
          <a:xfrm>
            <a:off x="548640" y="5212080"/>
            <a:ext cx="5669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458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Metrici: Top-1 / Top-5 accuracy · cosine similarity EEG-BERT · similaritate semantica. Toate modelele bat baseline-ul aleator de &gt;7x pe Top-5.</a:t>
            </a:r>
            <a:endParaRPr lang="en-US" sz="1200" dirty="0"/>
          </a:p>
        </p:txBody>
      </p:sp>
      <p:sp>
        <p:nvSpPr>
          <p:cNvPr id="10" name="Text 6"/>
          <p:cNvSpPr/>
          <p:nvPr/>
        </p:nvSpPr>
        <p:spPr>
          <a:xfrm>
            <a:off x="45720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70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EEG-to-Text  ·  IA — Echipa Laslo / Magdas / Lupse</a:t>
            </a:r>
            <a:endParaRPr lang="en-US" sz="900" dirty="0"/>
          </a:p>
        </p:txBody>
      </p:sp>
      <p:sp>
        <p:nvSpPr>
          <p:cNvPr id="11" name="Text 7"/>
          <p:cNvSpPr/>
          <p:nvPr/>
        </p:nvSpPr>
        <p:spPr>
          <a:xfrm>
            <a:off x="11247120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70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3283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Aplicatia demo (P3 — Lupse)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5440680" cy="2788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6E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554480"/>
            <a:ext cx="5440680" cy="54864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164592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Backend — FastAPI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77240" y="2286000"/>
            <a:ext cx="498348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3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/predict</a:t>
            </a:r>
            <a:endParaRPr lang="en-US" sz="1300" dirty="0"/>
          </a:p>
          <a:p>
            <a:pPr indent="0" marL="0">
              <a:spcAft>
                <a:spcPts val="900"/>
              </a:spcAft>
              <a:buNone/>
            </a:pPr>
            <a:r>
              <a:rPr lang="en-US" sz="1250" dirty="0">
                <a:solidFill>
                  <a:srgbClr val="132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accepta .npy -&gt; returneaza top-5 cuvinte</a:t>
            </a:r>
            <a:endParaRPr lang="en-US" sz="13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3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/predict/example/{id}  ·  /evaluate</a:t>
            </a:r>
            <a:endParaRPr lang="en-US" sz="1300" dirty="0"/>
          </a:p>
          <a:p>
            <a:pPr indent="0" marL="0">
              <a:spcAft>
                <a:spcPts val="900"/>
              </a:spcAft>
              <a:buNone/>
            </a:pPr>
            <a:r>
              <a:rPr lang="en-US" sz="1250" dirty="0">
                <a:solidFill>
                  <a:srgbClr val="132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ruleaza exemple predefinite si metrici</a:t>
            </a:r>
            <a:endParaRPr lang="en-US" sz="13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4458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Selectie model:  ?model=eegnet|conformer|pretrained</a:t>
            </a:r>
            <a:endParaRPr lang="en-US" sz="1300" dirty="0"/>
          </a:p>
          <a:p>
            <a:pPr indent="0" marL="0">
              <a:buNone/>
            </a:pPr>
            <a:r>
              <a:rPr lang="en-US" sz="1200" dirty="0">
                <a:solidFill>
                  <a:srgbClr val="4458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Predictorii sunt cache-uiti — greutatile se incarca o singura data.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172200" y="1554480"/>
            <a:ext cx="5440680" cy="2788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6EE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172200" y="1554480"/>
            <a:ext cx="5440680" cy="548640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10" name="Text 8"/>
          <p:cNvSpPr/>
          <p:nvPr/>
        </p:nvSpPr>
        <p:spPr>
          <a:xfrm>
            <a:off x="6400800" y="164592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Frontend — Streamlit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400800" y="2286000"/>
            <a:ext cx="498348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300" b="1" dirty="0">
                <a:solidFill>
                  <a:srgbClr val="0A8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 Upload</a:t>
            </a:r>
            <a:endParaRPr lang="en-US" sz="1300" dirty="0"/>
          </a:p>
          <a:p>
            <a:pPr indent="0" marL="0">
              <a:spcAft>
                <a:spcPts val="900"/>
              </a:spcAft>
              <a:buNone/>
            </a:pPr>
            <a:r>
              <a:rPr lang="en-US" sz="1250" dirty="0">
                <a:solidFill>
                  <a:srgbClr val="132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incarcare epoch .npy (drag &amp; drop)</a:t>
            </a:r>
            <a:endParaRPr lang="en-US" sz="13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300" b="1" dirty="0">
                <a:solidFill>
                  <a:srgbClr val="0A8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 Test</a:t>
            </a:r>
            <a:endParaRPr lang="en-US" sz="1300" dirty="0"/>
          </a:p>
          <a:p>
            <a:pPr indent="0" marL="0">
              <a:spcAft>
                <a:spcPts val="900"/>
              </a:spcAft>
              <a:buNone/>
            </a:pPr>
            <a:r>
              <a:rPr lang="en-US" sz="1250" dirty="0">
                <a:solidFill>
                  <a:srgbClr val="132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Example + Full Test Suite pe exemple ZuCo</a:t>
            </a:r>
            <a:endParaRPr lang="en-US" sz="13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rgbClr val="4458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Afisare: Top-5 cu bare de scor, spectrograma canal Pz, timp de inferenta.</a:t>
            </a:r>
            <a:endParaRPr lang="en-US" sz="1300" dirty="0"/>
          </a:p>
          <a:p>
            <a:pPr indent="0" marL="0">
              <a:buNone/>
            </a:pPr>
            <a:r>
              <a:rPr lang="en-US" sz="1200" i="1" dirty="0">
                <a:solidFill>
                  <a:srgbClr val="4458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Tema dark curata, in engleza, fara emoji.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48640" y="4572000"/>
            <a:ext cx="11064240" cy="1371600"/>
          </a:xfrm>
          <a:prstGeom prst="rect">
            <a:avLst/>
          </a:prstGeom>
          <a:solidFill>
            <a:srgbClr val="0E1B2A"/>
          </a:solidFill>
          <a:ln/>
        </p:spPr>
      </p:sp>
      <p:sp>
        <p:nvSpPr>
          <p:cNvPr id="13" name="Text 11"/>
          <p:cNvSpPr/>
          <p:nvPr/>
        </p:nvSpPr>
        <p:spPr>
          <a:xfrm>
            <a:off x="822960" y="470916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C8D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Rulare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822960" y="5029200"/>
            <a:ext cx="10515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1300" dirty="0">
                <a:solidFill>
                  <a:srgbClr val="02C3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uvicorn app.backend.main:app --reload --port 8000</a:t>
            </a:r>
            <a:endParaRPr lang="en-US" sz="13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300" dirty="0">
                <a:solidFill>
                  <a:srgbClr val="02C3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streamlit run app/streamlit_app.py</a:t>
            </a:r>
            <a:endParaRPr lang="en-US" sz="1300" dirty="0"/>
          </a:p>
          <a:p>
            <a:pPr indent="0" marL="0">
              <a:buNone/>
            </a:pPr>
            <a:r>
              <a:rPr lang="en-US" sz="1250" dirty="0">
                <a:solidFill>
                  <a:srgbClr val="AFC4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Apoi deschide http://localhost:8501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5720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70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EEG-to-Text  ·  IA — Echipa Laslo / Magdas / Lupse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11247120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70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E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6400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1CC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CONCLUZII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94360" y="96012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Ce am demonstrat si ce ramane greu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874520"/>
            <a:ext cx="6949440" cy="932688"/>
          </a:xfrm>
          <a:prstGeom prst="rect">
            <a:avLst/>
          </a:prstGeom>
          <a:solidFill>
            <a:srgbClr val="13283D"/>
          </a:solidFill>
          <a:ln/>
        </p:spPr>
      </p:sp>
      <p:sp>
        <p:nvSpPr>
          <p:cNvPr id="5" name="Shape 3"/>
          <p:cNvSpPr/>
          <p:nvPr/>
        </p:nvSpPr>
        <p:spPr>
          <a:xfrm>
            <a:off x="640080" y="1874520"/>
            <a:ext cx="91440" cy="932688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1993392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Fezabilitate dovedita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914400" y="2331720"/>
            <a:ext cx="6492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8D6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Toate cele 3 modele depasesc baseline-ul aleator de peste 4x — semnalul EEG contine informatie lexicala recuperabila.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40080" y="2953512"/>
            <a:ext cx="6949440" cy="932688"/>
          </a:xfrm>
          <a:prstGeom prst="rect">
            <a:avLst/>
          </a:prstGeom>
          <a:solidFill>
            <a:srgbClr val="13283D"/>
          </a:solidFill>
          <a:ln/>
        </p:spPr>
      </p:sp>
      <p:sp>
        <p:nvSpPr>
          <p:cNvPr id="9" name="Shape 7"/>
          <p:cNvSpPr/>
          <p:nvPr/>
        </p:nvSpPr>
        <p:spPr>
          <a:xfrm>
            <a:off x="640080" y="2953512"/>
            <a:ext cx="91440" cy="932688"/>
          </a:xfrm>
          <a:prstGeom prst="rect">
            <a:avLst/>
          </a:prstGeom>
          <a:solidFill>
            <a:srgbClr val="1CC8D8"/>
          </a:solidFill>
          <a:ln/>
        </p:spPr>
      </p:sp>
      <p:sp>
        <p:nvSpPr>
          <p:cNvPr id="10" name="Text 8"/>
          <p:cNvSpPr/>
          <p:nvPr/>
        </p:nvSpPr>
        <p:spPr>
          <a:xfrm>
            <a:off x="914400" y="3072384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Contrastiv &gt; regresie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914400" y="3410712"/>
            <a:ext cx="6492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8D6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InfoNCE (Magdas/Lupse) ofera Top-5 mai bun decat MSE pur (Laslo), pentru ca impinge activ embedding-ul departe de cuvintele gresite.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640080" y="4032504"/>
            <a:ext cx="6949440" cy="932688"/>
          </a:xfrm>
          <a:prstGeom prst="rect">
            <a:avLst/>
          </a:prstGeom>
          <a:solidFill>
            <a:srgbClr val="13283D"/>
          </a:solidFill>
          <a:ln/>
        </p:spPr>
      </p:sp>
      <p:sp>
        <p:nvSpPr>
          <p:cNvPr id="13" name="Shape 11"/>
          <p:cNvSpPr/>
          <p:nvPr/>
        </p:nvSpPr>
        <p:spPr>
          <a:xfrm>
            <a:off x="640080" y="4032504"/>
            <a:ext cx="91440" cy="932688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14" name="Text 12"/>
          <p:cNvSpPr/>
          <p:nvPr/>
        </p:nvSpPr>
        <p:spPr>
          <a:xfrm>
            <a:off x="914400" y="4151376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Pipeline reproductibil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914400" y="4489704"/>
            <a:ext cx="6492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8D6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singur script (train_all_models.py) regenereaza benchmark, date, embeddings BERT si antreneaza toate modelele.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7818120" y="1874520"/>
            <a:ext cx="3794760" cy="3227832"/>
          </a:xfrm>
          <a:prstGeom prst="rect">
            <a:avLst/>
          </a:prstGeom>
          <a:solidFill>
            <a:srgbClr val="13283D"/>
          </a:solidFill>
          <a:ln w="12700">
            <a:solidFill>
              <a:srgbClr val="F2A65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046720" y="205740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2A65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Limitari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8046720" y="2468880"/>
            <a:ext cx="333756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Variabilitate inter-subiect</a:t>
            </a:r>
            <a:endParaRPr lang="en-US" sz="125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150" dirty="0">
                <a:solidFill>
                  <a:srgbClr val="AFC4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modelul nu transfera bine la subiecti noi.</a:t>
            </a:r>
            <a:endParaRPr lang="en-US" sz="12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Hubness in spatiul BERT</a:t>
            </a:r>
            <a:endParaRPr lang="en-US" sz="125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150" dirty="0">
                <a:solidFill>
                  <a:srgbClr val="AFC4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cuvinte-hub apar in aproape orice top-5.</a:t>
            </a:r>
            <a:endParaRPr lang="en-US" sz="12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 limitate</a:t>
            </a:r>
            <a:endParaRPr lang="en-US" sz="1250" dirty="0"/>
          </a:p>
          <a:p>
            <a:pPr indent="0" marL="0">
              <a:buNone/>
            </a:pPr>
            <a:r>
              <a:rPr lang="en-US" sz="1150" dirty="0">
                <a:solidFill>
                  <a:srgbClr val="AFC4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mic + vocabular de 200 cuvinte.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640080" y="612648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70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Echipa Laslo / Magdas / Lupse  —  Inteligenta Artificiala, Mai 2026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EEG-to-Text Reconstruction</dc:title>
  <dc:subject>PptxGenJS Presentation</dc:subject>
  <dc:creator>Lupse Ioan Victor</dc:creator>
  <cp:lastModifiedBy>Lupse Ioan Victor</cp:lastModifiedBy>
  <cp:revision>1</cp:revision>
  <dcterms:created xsi:type="dcterms:W3CDTF">2026-06-03T05:01:06Z</dcterms:created>
  <dcterms:modified xsi:type="dcterms:W3CDTF">2026-06-03T05:01:06Z</dcterms:modified>
</cp:coreProperties>
</file>